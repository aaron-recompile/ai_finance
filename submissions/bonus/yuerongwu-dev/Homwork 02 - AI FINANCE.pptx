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299245f6017b5b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299245f6017b5b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4299245f6017b5b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4299245f6017b5b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4299245f6017b5b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4299245f6017b5b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4299245f6017b5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4299245f6017b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4299245f6017b5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4299245f6017b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4299245f6017b5b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4299245f6017b5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4299245f6017b5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4299245f6017b5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299245f6017b5b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4299245f6017b5b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299245f6017b5b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299245f6017b5b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4299245f6017b5b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4299245f6017b5b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299245f6017b5b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299245f6017b5b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299245f6017b5b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4299245f6017b5b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299245f6017b5b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299245f6017b5b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4299245f6017b5b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4299245f6017b5b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4299245f6017b5b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4299245f6017b5b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4299245f6017b5b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4299245f6017b5b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4299245f6017b5b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4299245f6017b5b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4299245f6017b5b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4299245f6017b5b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4299245f6017b5b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4299245f6017b5b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4299245f6017b5b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4299245f6017b5b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4299245f6017b5b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4299245f6017b5b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4299245f6017b5b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4299245f6017b5b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yuerongwu-dev/AI_Finance" TargetMode="External"/><Relationship Id="rId4" Type="http://schemas.openxmlformats.org/officeDocument/2006/relationships/hyperlink" Target="https://github.com/yuerongwu-dev/AI_Financ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omwork 02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Yuerong Wu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85675" y="0"/>
            <a:ext cx="7846200" cy="5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AI Finance  Assignment Completion List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Course:</a:t>
            </a:r>
            <a:r>
              <a:rPr lang="en" sz="1100">
                <a:solidFill>
                  <a:schemeClr val="dk1"/>
                </a:solidFill>
              </a:rPr>
              <a:t> MB/CSE 599 — AI Finance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GitHub Username:</a:t>
            </a:r>
            <a:r>
              <a:rPr lang="en" sz="1100">
                <a:solidFill>
                  <a:schemeClr val="dk1"/>
                </a:solidFill>
              </a:rPr>
              <a:t> yuerongwu-dev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Network:</a:t>
            </a:r>
            <a:r>
              <a:rPr lang="en" sz="1100">
                <a:solidFill>
                  <a:schemeClr val="dk1"/>
                </a:solidFill>
              </a:rPr>
              <a:t> Base Sepolia Testnet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Part 0 — GitHub Setup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Created and configured my GitHub account.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Followed the instructor's GitHub account,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aaron-recompile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Starred the instructor's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AI_Finance</a:t>
            </a:r>
            <a:r>
              <a:rPr lang="en" sz="1100">
                <a:solidFill>
                  <a:schemeClr val="dk1"/>
                </a:solidFill>
              </a:rPr>
              <a:t> repository.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Prepared a GitHub screenshot showing my username and repository status.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Part 1 — DeFi Experiments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Experiment 1: Token Swap (SWAP)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lang="en" sz="1100">
                <a:solidFill>
                  <a:schemeClr val="dk1"/>
                </a:solidFill>
              </a:rPr>
              <a:t>Installed and configured the MetaMask wallet.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lang="en" sz="1100">
                <a:solidFill>
                  <a:schemeClr val="dk1"/>
                </a:solidFill>
              </a:rPr>
              <a:t>Connected MetaMask to the Base Sepolia test network.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lang="en" sz="1100">
                <a:solidFill>
                  <a:schemeClr val="dk1"/>
                </a:solidFill>
              </a:rPr>
              <a:t>Minted free MAX and tUSDC test tokens.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lang="en" sz="1100">
                <a:solidFill>
                  <a:schemeClr val="dk1"/>
                </a:solidFill>
              </a:rPr>
              <a:t>Explored token swapping, exchange rates, and price impact.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lang="en" sz="1100">
                <a:solidFill>
                  <a:schemeClr val="dk1"/>
                </a:solidFill>
              </a:rPr>
              <a:t>Approved MAX token spending for the swap contract.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9"/>
            </a:pPr>
            <a:r>
              <a:rPr lang="en" sz="1100">
                <a:solidFill>
                  <a:schemeClr val="dk1"/>
                </a:solidFill>
              </a:rPr>
              <a:t>Completed the GitHub Pull Request submission process for the bonus assignment.</a:t>
            </a:r>
            <a:endParaRPr sz="11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306375"/>
            <a:ext cx="7846200" cy="3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AI Finance Assignment Completion List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Experiment 2: Liquidity Farming (FARM)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0"/>
            </a:pPr>
            <a:r>
              <a:rPr lang="en" sz="1100">
                <a:solidFill>
                  <a:schemeClr val="dk1"/>
                </a:solidFill>
              </a:rPr>
              <a:t>Explored the MAX/tUSDC liquidity pool.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0"/>
            </a:pPr>
            <a:r>
              <a:rPr lang="en" sz="1100">
                <a:solidFill>
                  <a:schemeClr val="dk1"/>
                </a:solidFill>
              </a:rPr>
              <a:t>Learned how liquidity provision generates LP tokens.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0"/>
            </a:pPr>
            <a:r>
              <a:rPr lang="en" sz="1100">
                <a:solidFill>
                  <a:schemeClr val="dk1"/>
                </a:solidFill>
              </a:rPr>
              <a:t>Reviewed the LP staking, reward harvesting, and withdrawal functions.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Experiment 3: Flash Loan Arbitrage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3"/>
            </a:pPr>
            <a:r>
              <a:rPr lang="en" sz="1100">
                <a:solidFill>
                  <a:schemeClr val="dk1"/>
                </a:solidFill>
              </a:rPr>
              <a:t>Connected MetaMask to the Flash Loan Arbitrage application.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3"/>
            </a:pPr>
            <a:r>
              <a:rPr lang="en" sz="1100">
                <a:solidFill>
                  <a:schemeClr val="dk1"/>
                </a:solidFill>
              </a:rPr>
              <a:t>Compared token prices across two decentralized exchanges.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3"/>
            </a:pPr>
            <a:r>
              <a:rPr lang="en" sz="1100">
                <a:solidFill>
                  <a:schemeClr val="dk1"/>
                </a:solidFill>
              </a:rPr>
              <a:t>Analyzed borrowing amounts, repayment obligations, transaction fees, and estimated profits.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3"/>
            </a:pPr>
            <a:r>
              <a:rPr lang="en" sz="1100">
                <a:solidFill>
                  <a:schemeClr val="dk1"/>
                </a:solidFill>
              </a:rPr>
              <a:t>Used the Optimal Amount calculator to evaluate arbitrage profitability.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3"/>
            </a:pPr>
            <a:r>
              <a:rPr lang="en" sz="1100">
                <a:solidFill>
                  <a:schemeClr val="dk1"/>
                </a:solidFill>
              </a:rPr>
              <a:t>Identified that the 0.65% price difference was insufficient to cover the combined fees and price impact.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3"/>
            </a:pPr>
            <a:r>
              <a:rPr lang="en" sz="1100">
                <a:solidFill>
                  <a:schemeClr val="dk1"/>
                </a:solidFill>
              </a:rPr>
              <a:t>Documented the negative estimated profit and explained why the transaction would revert.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0" y="0"/>
            <a:ext cx="7846200" cy="3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AI Finance Assignment Completion List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Part 2 — Bonus: Pay Yourself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9"/>
            </a:pPr>
            <a:r>
              <a:rPr lang="en" sz="1100">
                <a:solidFill>
                  <a:schemeClr val="dk1"/>
                </a:solidFill>
              </a:rPr>
              <a:t>Forked the instructor's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AI_Finance</a:t>
            </a:r>
            <a:r>
              <a:rPr lang="en" sz="1100">
                <a:solidFill>
                  <a:schemeClr val="dk1"/>
                </a:solidFill>
              </a:rPr>
              <a:t> repository into my GitHub account.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9"/>
            </a:pPr>
            <a:r>
              <a:rPr lang="en" sz="1100">
                <a:solidFill>
                  <a:schemeClr val="dk1"/>
                </a:solidFill>
              </a:rPr>
              <a:t>Located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week-03/code/flashloan-foundry/src/Arbitrageur.sol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9"/>
            </a:pPr>
            <a:r>
              <a:rPr lang="en" sz="1100">
                <a:solidFill>
                  <a:schemeClr val="dk1"/>
                </a:solidFill>
              </a:rPr>
              <a:t>Modified the Solidity contract to transfer remaining USDC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msg.sender</a:t>
            </a:r>
            <a:r>
              <a:rPr lang="en" sz="1100">
                <a:solidFill>
                  <a:schemeClr val="dk1"/>
                </a:solidFill>
              </a:rPr>
              <a:t> instead of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owner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9"/>
            </a:pPr>
            <a:r>
              <a:rPr lang="en" sz="1100">
                <a:solidFill>
                  <a:schemeClr val="dk1"/>
                </a:solidFill>
              </a:rPr>
              <a:t>Updated the code comment to reflect the new profit recipient.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9"/>
            </a:pPr>
            <a:r>
              <a:rPr lang="en" sz="1100">
                <a:solidFill>
                  <a:schemeClr val="dk1"/>
                </a:solidFill>
              </a:rPr>
              <a:t>Committed the changes to my forked repository.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19"/>
            </a:pPr>
            <a:r>
              <a:rPr lang="en" sz="1100">
                <a:solidFill>
                  <a:schemeClr val="dk1"/>
                </a:solidFill>
              </a:rPr>
              <a:t>Completed the GitHub Pull Request submission process for the bonus assignment.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Summary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assignment provided hands-on experience with GitHub, MetaMask, decentralized finance applications, token swapping, liquidity farming concepts, flash-loan arbitrage analysis, and Solidity smart contract modification.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GitHub Repository: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https://github.com/yuerongwu-dev/AI_Finance</a:t>
            </a:r>
            <a:endParaRPr sz="11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00300" y="138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76" name="Google Shape;76;p17"/>
          <p:cNvSpPr txBox="1"/>
          <p:nvPr/>
        </p:nvSpPr>
        <p:spPr>
          <a:xfrm>
            <a:off x="200300" y="711350"/>
            <a:ext cx="72840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55C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PART 0 — Get on GitHub (required)</a:t>
            </a:r>
            <a:endParaRPr b="1" sz="1050">
              <a:solidFill>
                <a:srgbClr val="1155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55C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Every developer lives on GitHub, and you'll need an account for the Bonus anyway.</a:t>
            </a:r>
            <a:endParaRPr b="1" sz="1050">
              <a:solidFill>
                <a:srgbClr val="1155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55C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1) Create a free account at github.com/signup (skip if you have one).</a:t>
            </a:r>
            <a:endParaRPr b="1" sz="1050">
              <a:solidFill>
                <a:srgbClr val="1155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55C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2) Follow the course account: github.com/aaron-recompile → Follow.</a:t>
            </a:r>
            <a:endParaRPr b="1" sz="1050">
              <a:solidFill>
                <a:srgbClr val="1155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3) Star the course repo: github.com/aaron-recompile/AI_Finance → Star (top-right).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Screenshot: the repo page with the star filled (it shows "Unstar") and YOUR username visible top-right.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75" y="1942375"/>
            <a:ext cx="6120418" cy="296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200300" y="138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83" name="Google Shape;83;p18"/>
          <p:cNvSpPr txBox="1"/>
          <p:nvPr/>
        </p:nvSpPr>
        <p:spPr>
          <a:xfrm>
            <a:off x="200300" y="562800"/>
            <a:ext cx="728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155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55C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3) Star the course repo: github.com/aaron-recompile/AI_Finance → Star (top-right).</a:t>
            </a:r>
            <a:endParaRPr b="1" sz="1050">
              <a:solidFill>
                <a:srgbClr val="1155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55C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Screenshot: the repo page with the star filled (it shows "Unstar") and YOUR username visible top-right.</a:t>
            </a:r>
            <a:r>
              <a:rPr b="1" lang="en" sz="1100">
                <a:solidFill>
                  <a:srgbClr val="1155CC"/>
                </a:solidFill>
              </a:rPr>
              <a:t> </a:t>
            </a:r>
            <a:endParaRPr b="1">
              <a:solidFill>
                <a:srgbClr val="1155CC"/>
              </a:solidFill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2300"/>
            <a:ext cx="7720330" cy="359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0" y="352800"/>
            <a:ext cx="866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C9DAF8"/>
                </a:highlight>
              </a:rPr>
              <a:t>Part 1 — DeFi </a:t>
            </a:r>
            <a:endParaRPr b="1" sz="1600">
              <a:highlight>
                <a:srgbClr val="C9DAF8"/>
              </a:highlight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00" y="494675"/>
            <a:ext cx="5155567" cy="2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567375" y="3437250"/>
            <a:ext cx="38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</a:rPr>
              <a:t>✅️ Add MetaMask in </a:t>
            </a:r>
            <a:r>
              <a:rPr lang="en" sz="1800">
                <a:solidFill>
                  <a:srgbClr val="1155CC"/>
                </a:solidFill>
              </a:rPr>
              <a:t>Chrome</a:t>
            </a:r>
            <a:endParaRPr sz="18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</a:rPr>
              <a:t>✅️ Create new wallet</a:t>
            </a:r>
            <a:endParaRPr sz="1800">
              <a:solidFill>
                <a:srgbClr val="1155CC"/>
              </a:solidFill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267" y="441200"/>
            <a:ext cx="3105131" cy="408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0" y="352800"/>
            <a:ext cx="866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27" y="460175"/>
            <a:ext cx="6929524" cy="342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446675" y="4198575"/>
            <a:ext cx="53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</a:rPr>
              <a:t>✅️ </a:t>
            </a:r>
            <a:r>
              <a:rPr lang="en" sz="1800">
                <a:solidFill>
                  <a:srgbClr val="1155CC"/>
                </a:solidFill>
              </a:rPr>
              <a:t>Connect</a:t>
            </a:r>
            <a:r>
              <a:rPr lang="en" sz="1800">
                <a:solidFill>
                  <a:srgbClr val="1155CC"/>
                </a:solidFill>
              </a:rPr>
              <a:t> wallet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C9DAF8"/>
                </a:highlight>
              </a:rPr>
              <a:t>Part 1 — DeFi </a:t>
            </a:r>
            <a:endParaRPr b="1" sz="1600"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0" y="352800"/>
            <a:ext cx="866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Part 1 — DeFi </a:t>
            </a:r>
            <a:endParaRPr b="1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3475" y="153375"/>
            <a:ext cx="6279024" cy="428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261000" y="1450425"/>
            <a:ext cx="270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</a:rPr>
              <a:t>✅️ connect to SWAP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C9DAF8"/>
                </a:highlight>
              </a:rPr>
              <a:t>Part 1 — DeFi </a:t>
            </a:r>
            <a:endParaRPr b="1" sz="1600"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25" y="935213"/>
            <a:ext cx="2367125" cy="229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90975" y="3746588"/>
            <a:ext cx="53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</a:rPr>
              <a:t>✅️ get test token ： 1,000 MAX </a:t>
            </a:r>
            <a:endParaRPr sz="1800">
              <a:solidFill>
                <a:srgbClr val="1155CC"/>
              </a:solidFill>
            </a:endParaRPr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4525" y="935213"/>
            <a:ext cx="2301975" cy="22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4500" y="-70450"/>
            <a:ext cx="3429275" cy="508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C9DAF8"/>
                </a:highlight>
              </a:rPr>
              <a:t>Part 1 — DeFi </a:t>
            </a:r>
            <a:endParaRPr b="1" sz="1600"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00" y="575625"/>
            <a:ext cx="5809148" cy="37253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84225" y="4551375"/>
            <a:ext cx="53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</a:rPr>
              <a:t>✅️ make payment</a:t>
            </a:r>
            <a:endParaRPr sz="1800">
              <a:solidFill>
                <a:srgbClr val="1155CC"/>
              </a:solidFill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1975" y="575625"/>
            <a:ext cx="2572825" cy="36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0" y="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C9DAF8"/>
                </a:highlight>
              </a:rPr>
              <a:t>Part 1 — DeFi </a:t>
            </a:r>
            <a:endParaRPr b="1" sz="1600"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93C47D"/>
                </a:highlight>
              </a:rPr>
              <a:t>Part 1 — Experiment 2: FARM </a:t>
            </a:r>
            <a:endParaRPr b="1" sz="1600">
              <a:highlight>
                <a:srgbClr val="93C47D"/>
              </a:highlight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6225" y="367950"/>
            <a:ext cx="5989979" cy="44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/>
        </p:nvSpPr>
        <p:spPr>
          <a:xfrm>
            <a:off x="186700" y="1775375"/>
            <a:ext cx="279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</a:rPr>
              <a:t>✅️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</a:rPr>
              <a:t>Connect FARM</a:t>
            </a:r>
            <a:endParaRPr b="1"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93C47D"/>
                </a:highlight>
              </a:rPr>
              <a:t>Part 1 — Experiment 2: FARM </a:t>
            </a:r>
            <a:endParaRPr b="1" sz="1600">
              <a:highlight>
                <a:srgbClr val="93C47D"/>
              </a:highlight>
            </a:endParaRPr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600" y="882375"/>
            <a:ext cx="6239949" cy="353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/>
        </p:nvSpPr>
        <p:spPr>
          <a:xfrm>
            <a:off x="168150" y="2063175"/>
            <a:ext cx="236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</a:rPr>
              <a:t>✅️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</a:rPr>
              <a:t>Get 1000 tUSDC  </a:t>
            </a:r>
            <a:endParaRPr b="1"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93C47D"/>
                </a:highlight>
              </a:rPr>
              <a:t>Part 1 — Experiment 2: FARM </a:t>
            </a:r>
            <a:endParaRPr b="1" sz="1600">
              <a:highlight>
                <a:srgbClr val="93C47D"/>
              </a:highlight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446675" y="1942475"/>
            <a:ext cx="284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✅️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Make payment</a:t>
            </a:r>
            <a:endParaRPr sz="1800">
              <a:solidFill>
                <a:srgbClr val="38761D"/>
              </a:solidFill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225" y="834175"/>
            <a:ext cx="6038148" cy="36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B4A7D6"/>
                </a:highlight>
              </a:rPr>
              <a:t>Experiment 3 — FLASH LOAN </a:t>
            </a:r>
            <a:endParaRPr b="1" sz="1600">
              <a:highlight>
                <a:srgbClr val="B4A7D6"/>
              </a:highlight>
            </a:endParaRPr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600" y="537075"/>
            <a:ext cx="4926143" cy="4407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353825" y="1979625"/>
            <a:ext cx="534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✅️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connect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B4A7D6"/>
                </a:highlight>
              </a:rPr>
              <a:t>Experiment 3 — FLASH LOAN </a:t>
            </a:r>
            <a:endParaRPr b="1" sz="1600">
              <a:highlight>
                <a:srgbClr val="B4A7D6"/>
              </a:highlight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575" y="431100"/>
            <a:ext cx="6065697" cy="44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298125" y="2007475"/>
            <a:ext cx="22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34F5C"/>
                </a:solidFill>
              </a:rPr>
              <a:t>Optional Amount</a:t>
            </a:r>
            <a:endParaRPr sz="1800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B4A7D6"/>
                </a:highlight>
              </a:rPr>
              <a:t>Experiment 3 — FLASH LOAN </a:t>
            </a:r>
            <a:endParaRPr b="1" sz="1600">
              <a:highlight>
                <a:srgbClr val="B4A7D6"/>
              </a:highlight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92825" y="649900"/>
            <a:ext cx="79578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Flash Loan Arbitrage – Experiment Result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I connected my MetaMask wallet to the Base Sepolia test network and analyzed a flash-loan arbitrage opportunity between two decentralized exchanges.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The observed price gap was approximately 0.65%, while the combined trading and flash-loan fees were also 0.65%.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With a simulated borrowing amount of 20,000 tUSDC, the estimated profit was -133 tUSDC. The Optimal Amount tool confirmed that no profitable borrowing size was available under the current market conditions.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8761D"/>
                </a:solidFill>
              </a:rPr>
              <a:t>This experiment demonstrated that price differences alone do not guarantee arbitrage profits. Transaction fees, price impact, and liquidity constraints must also be considered.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AD1DC"/>
                </a:highlight>
              </a:rPr>
              <a:t>PART 02 - Bonus: Pay Yourself </a:t>
            </a:r>
            <a:r>
              <a:rPr b="1" lang="en" sz="1600">
                <a:highlight>
                  <a:srgbClr val="EAD1DC"/>
                </a:highlight>
              </a:rPr>
              <a:t> </a:t>
            </a:r>
            <a:endParaRPr b="1" sz="1600">
              <a:highlight>
                <a:srgbClr val="EAD1DC"/>
              </a:highlight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1720" l="0" r="20077" t="0"/>
          <a:stretch/>
        </p:blipFill>
        <p:spPr>
          <a:xfrm>
            <a:off x="1217275" y="530100"/>
            <a:ext cx="7538849" cy="44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AD1DC"/>
                </a:highlight>
              </a:rPr>
              <a:t>PART 02 - Bonus: Pay Yourself  </a:t>
            </a:r>
            <a:endParaRPr b="1" sz="1600">
              <a:highlight>
                <a:srgbClr val="EAD1DC"/>
              </a:highlight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025" y="684362"/>
            <a:ext cx="8043577" cy="377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8775"/>
            <a:ext cx="8839203" cy="444274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AD1DC"/>
                </a:highlight>
              </a:rPr>
              <a:t>PART 02 - Bonus: Pay Yourself  </a:t>
            </a:r>
            <a:endParaRPr b="1" sz="1600">
              <a:highlight>
                <a:srgbClr val="EAD1DC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AD1DC"/>
                </a:highlight>
              </a:rPr>
              <a:t>PART 02 - Bonus: Pay Yourself  </a:t>
            </a:r>
            <a:endParaRPr b="1" sz="1600">
              <a:highlight>
                <a:srgbClr val="EAD1DC"/>
              </a:highlight>
            </a:endParaRPr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3500"/>
            <a:ext cx="7917938" cy="44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AD1DC"/>
                </a:highlight>
              </a:rPr>
              <a:t>PART 02 - Bonus: Pay Yourself  </a:t>
            </a:r>
            <a:endParaRPr b="1" sz="1600">
              <a:highlight>
                <a:srgbClr val="EAD1DC"/>
              </a:highlight>
            </a:endParaRPr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3500"/>
            <a:ext cx="8839200" cy="417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/>
        </p:nvSpPr>
        <p:spPr>
          <a:xfrm>
            <a:off x="324950" y="1513350"/>
            <a:ext cx="7892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Bonus: Pay Yourself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Updated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Arbitrageur.sol</a:t>
            </a:r>
            <a:r>
              <a:rPr lang="en" sz="1500">
                <a:solidFill>
                  <a:schemeClr val="dk1"/>
                </a:solidFill>
              </a:rPr>
              <a:t> to transfer the remaining USDC to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msg.sender</a:t>
            </a:r>
            <a:r>
              <a:rPr lang="en" sz="1500">
                <a:solidFill>
                  <a:schemeClr val="dk1"/>
                </a:solidFill>
              </a:rPr>
              <a:t> instead of the contract owner.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This change allows the caller of the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run()</a:t>
            </a:r>
            <a:r>
              <a:rPr lang="en" sz="1500">
                <a:solidFill>
                  <a:schemeClr val="dk1"/>
                </a:solidFill>
              </a:rPr>
              <a:t> function to receive the arbitrage profit.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 also updated the corresponding code comment for clarity.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4" name="Google Shape;204;p35"/>
          <p:cNvSpPr txBox="1"/>
          <p:nvPr/>
        </p:nvSpPr>
        <p:spPr>
          <a:xfrm>
            <a:off x="0" y="0"/>
            <a:ext cx="42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EAD1DC"/>
                </a:highlight>
              </a:rPr>
              <a:t>PART 02 - Bonus: Pay Yourself  </a:t>
            </a:r>
            <a:endParaRPr b="1" sz="1600">
              <a:highlight>
                <a:srgbClr val="EAD1DC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